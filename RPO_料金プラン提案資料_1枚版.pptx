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RPO（採用代行）サービスの料金プラン提案（1枚版）。初期導入費10万円。START/GROWTH（おすすめ）/PARTNERの3プランとオプションを1枚に集約。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7B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採用代行（RPO）サービス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62179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料金プラン ご提案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貴社の採用フェーズに最適な3つのプラン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14055" y="457200"/>
            <a:ext cx="3520440" cy="932688"/>
          </a:xfrm>
          <a:prstGeom prst="roundRect">
            <a:avLst>
              <a:gd name="adj" fmla="val 9804"/>
            </a:avLst>
          </a:prstGeom>
          <a:solidFill>
            <a:srgbClr val="10394A"/>
          </a:solidFill>
          <a:ln/>
          <a:effectLst>
            <a:outerShdw sx="100000" sy="100000" kx="0" ky="0" algn="bl" rotWithShape="0" blurRad="114300" dist="38100" dir="5400000">
              <a:srgbClr val="9FB4BC">
                <a:alpha val="5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5223" y="649224"/>
            <a:ext cx="548640" cy="548640"/>
          </a:xfrm>
          <a:prstGeom prst="ellipse">
            <a:avLst/>
          </a:prstGeom>
          <a:solidFill>
            <a:srgbClr val="D98A2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3239" y="7772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082735" y="57607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D9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初期導入費</a:t>
            </a:r>
            <a:pPr indent="0" marL="0">
              <a:buNone/>
            </a:pPr>
            <a:r>
              <a:rPr lang="en-US" sz="850" dirty="0">
                <a:solidFill>
                  <a:srgbClr val="C9D6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（初回のみ）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082735" y="78638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¥100,000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9082735" y="11247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C2C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採用フロー構築・ATS設定・KPI設計・キックオフ 他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57200" y="1591056"/>
            <a:ext cx="3520440" cy="42976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B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9FB4BC">
                <a:alpha val="5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94944" y="1865376"/>
            <a:ext cx="585216" cy="585216"/>
          </a:xfrm>
          <a:prstGeom prst="ellipse">
            <a:avLst/>
          </a:prstGeom>
          <a:solidFill>
            <a:srgbClr val="127B8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2002536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08176" y="1865376"/>
            <a:ext cx="2459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27B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START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1408176" y="2194560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はじめての採用代行に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694944" y="2596896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¥150,000</a:t>
            </a:r>
            <a:pPr indent="0" marL="0">
              <a:buNone/>
            </a:pPr>
            <a:r>
              <a:rPr lang="en-US" sz="1200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/ 月</a:t>
            </a:r>
            <a:endParaRPr lang="en-US" sz="2500" dirty="0"/>
          </a:p>
        </p:txBody>
      </p:sp>
      <p:sp>
        <p:nvSpPr>
          <p:cNvPr id="17" name="Shape 13"/>
          <p:cNvSpPr/>
          <p:nvPr/>
        </p:nvSpPr>
        <p:spPr>
          <a:xfrm>
            <a:off x="694944" y="3163824"/>
            <a:ext cx="3044952" cy="0"/>
          </a:xfrm>
          <a:prstGeom prst="line">
            <a:avLst/>
          </a:prstGeom>
          <a:noFill/>
          <a:ln w="12700">
            <a:solidFill>
              <a:srgbClr val="DBE6E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94944" y="329184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7B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　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採用担当者がいない企業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27B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稼働　</a:t>
            </a:r>
            <a:pPr indent="0" marL="0">
              <a:buNone/>
            </a:pPr>
            <a:r>
              <a:rPr lang="en-US" sz="110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月10〜15時間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94944" y="4096512"/>
            <a:ext cx="3044952" cy="0"/>
          </a:xfrm>
          <a:prstGeom prst="line">
            <a:avLst/>
          </a:prstGeom>
          <a:noFill/>
          <a:ln w="12700">
            <a:solidFill>
              <a:srgbClr val="DBE6E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94944" y="4206240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主な業務内容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94944" y="4498848"/>
            <a:ext cx="30449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7B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採用戦略　</a:t>
            </a:r>
            <a:pPr indent="0" marL="0">
              <a:spcAft>
                <a:spcPts val="1600"/>
              </a:spcAft>
              <a:buNone/>
            </a:pPr>
            <a:r>
              <a:rPr lang="en-US" sz="110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計画ヒアリング・ターゲット設計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27B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求人運用　</a:t>
            </a:r>
            <a:pPr indent="0" marL="0">
              <a:spcAft>
                <a:spcPts val="1600"/>
              </a:spcAft>
              <a:buNone/>
            </a:pPr>
            <a:r>
              <a:rPr lang="en-US" sz="110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原稿作成・媒体掲載・更新・改善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27B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応募管理　</a:t>
            </a:r>
            <a:pPr indent="0" marL="0">
              <a:spcAft>
                <a:spcPts val="1600"/>
              </a:spcAft>
              <a:buNone/>
            </a:pPr>
            <a:r>
              <a:rPr lang="en-US" sz="110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応募者確認・リスト・状況共有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27B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採用改善　</a:t>
            </a:r>
            <a:pPr indent="0" marL="0">
              <a:spcAft>
                <a:spcPts val="1600"/>
              </a:spcAft>
              <a:buNone/>
            </a:pPr>
            <a:r>
              <a:rPr lang="en-US" sz="110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月次レポート・月1回定例MTG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335628" y="1591056"/>
            <a:ext cx="3520440" cy="4297680"/>
          </a:xfrm>
          <a:prstGeom prst="roundRect">
            <a:avLst>
              <a:gd name="adj" fmla="val 2857"/>
            </a:avLst>
          </a:prstGeom>
          <a:solidFill>
            <a:srgbClr val="FDF6EC"/>
          </a:solidFill>
          <a:ln w="28575">
            <a:solidFill>
              <a:srgbClr val="D98A2B"/>
            </a:solidFill>
            <a:prstDash val="solid"/>
          </a:ln>
          <a:effectLst>
            <a:outerShdw sx="100000" sy="100000" kx="0" ky="0" algn="bl" rotWithShape="0" blurRad="152400" dist="50800" dir="5400000">
              <a:srgbClr val="C79A55">
                <a:alpha val="6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410048" y="141732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D98A2B"/>
          </a:solidFill>
          <a:ln/>
          <a:effectLst>
            <a:outerShdw sx="100000" sy="100000" kx="0" ky="0" algn="bl" rotWithShape="0" blurRad="114300" dist="38100" dir="5400000">
              <a:srgbClr val="9FB4BC">
                <a:alpha val="55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5410048" y="14173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おすすめ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4573372" y="1865376"/>
            <a:ext cx="585216" cy="585216"/>
          </a:xfrm>
          <a:prstGeom prst="ellipse">
            <a:avLst/>
          </a:prstGeom>
          <a:solidFill>
            <a:srgbClr val="D98A2B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0532" y="2002536"/>
            <a:ext cx="310896" cy="31089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286604" y="1865376"/>
            <a:ext cx="2459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B26F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GROWTH</a:t>
            </a:r>
            <a:endParaRPr lang="en-US" sz="2000" dirty="0"/>
          </a:p>
        </p:txBody>
      </p:sp>
      <p:sp>
        <p:nvSpPr>
          <p:cNvPr id="28" name="Text 23"/>
          <p:cNvSpPr/>
          <p:nvPr/>
        </p:nvSpPr>
        <p:spPr>
          <a:xfrm>
            <a:off x="5286604" y="2194560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採用を本気で強化する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4573372" y="2596896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¥300,000</a:t>
            </a:r>
            <a:pPr indent="0" marL="0">
              <a:buNone/>
            </a:pPr>
            <a:r>
              <a:rPr lang="en-US" sz="1200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/ 月</a:t>
            </a:r>
            <a:endParaRPr lang="en-US" sz="2500" dirty="0"/>
          </a:p>
        </p:txBody>
      </p:sp>
      <p:sp>
        <p:nvSpPr>
          <p:cNvPr id="30" name="Shape 25"/>
          <p:cNvSpPr/>
          <p:nvPr/>
        </p:nvSpPr>
        <p:spPr>
          <a:xfrm>
            <a:off x="4573372" y="3163824"/>
            <a:ext cx="3044952" cy="0"/>
          </a:xfrm>
          <a:prstGeom prst="line">
            <a:avLst/>
          </a:prstGeom>
          <a:noFill/>
          <a:ln w="12700">
            <a:solidFill>
              <a:srgbClr val="DBE6EA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573372" y="329184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A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　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採用を本気で強化したい企業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98A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稼働　</a:t>
            </a:r>
            <a:pPr indent="0" marL="0">
              <a:buNone/>
            </a:pPr>
            <a:r>
              <a:rPr lang="en-US" sz="110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月25〜35時間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4573372" y="4096512"/>
            <a:ext cx="3044952" cy="0"/>
          </a:xfrm>
          <a:prstGeom prst="line">
            <a:avLst/>
          </a:prstGeom>
          <a:noFill/>
          <a:ln w="12700">
            <a:solidFill>
              <a:srgbClr val="DBE6EA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4573372" y="4206240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26F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STARTの全内容 ＋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4573372" y="4498848"/>
            <a:ext cx="30449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8A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応募者対応　</a:t>
            </a:r>
            <a:pPr indent="0" marL="0">
              <a:spcAft>
                <a:spcPts val="1600"/>
              </a:spcAft>
              <a:buNone/>
            </a:pPr>
            <a:r>
              <a:rPr lang="en-US" sz="110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返信・面接案内・日程調整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98A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歩留まり改善　</a:t>
            </a:r>
            <a:pPr indent="0" marL="0">
              <a:spcAft>
                <a:spcPts val="1600"/>
              </a:spcAft>
              <a:buNone/>
            </a:pPr>
            <a:r>
              <a:rPr lang="en-US" sz="110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辞退防止・面接後フォロー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98A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求人マーケ　</a:t>
            </a:r>
            <a:pPr indent="0" marL="0">
              <a:spcAft>
                <a:spcPts val="1600"/>
              </a:spcAft>
              <a:buNone/>
            </a:pPr>
            <a:r>
              <a:rPr lang="en-US" sz="110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競合/相場分析・原稿ABテスト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98A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採用会議　</a:t>
            </a:r>
            <a:pPr indent="0" marL="0">
              <a:spcAft>
                <a:spcPts val="1600"/>
              </a:spcAft>
              <a:buNone/>
            </a:pPr>
            <a:r>
              <a:rPr lang="en-US" sz="110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月2回・経営者へ数値報告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8214055" y="1591056"/>
            <a:ext cx="3520440" cy="42976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B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9FB4BC">
                <a:alpha val="55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8451799" y="1865376"/>
            <a:ext cx="585216" cy="585216"/>
          </a:xfrm>
          <a:prstGeom prst="ellipse">
            <a:avLst/>
          </a:prstGeom>
          <a:solidFill>
            <a:srgbClr val="10394A"/>
          </a:solidFill>
          <a:ln/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8959" y="2002536"/>
            <a:ext cx="310896" cy="310896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9165031" y="1865376"/>
            <a:ext cx="2459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PARTNER</a:t>
            </a:r>
            <a:endParaRPr lang="en-US" sz="2000" dirty="0"/>
          </a:p>
        </p:txBody>
      </p:sp>
      <p:sp>
        <p:nvSpPr>
          <p:cNvPr id="39" name="Text 33"/>
          <p:cNvSpPr/>
          <p:nvPr/>
        </p:nvSpPr>
        <p:spPr>
          <a:xfrm>
            <a:off x="9165031" y="2194560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採用まるごとお任せ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8451799" y="2596896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¥500,000〜</a:t>
            </a:r>
            <a:pPr indent="0" marL="0">
              <a:buNone/>
            </a:pPr>
            <a:r>
              <a:rPr lang="en-US" sz="1200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/ 月</a:t>
            </a:r>
            <a:endParaRPr lang="en-US" sz="2500" dirty="0"/>
          </a:p>
        </p:txBody>
      </p:sp>
      <p:sp>
        <p:nvSpPr>
          <p:cNvPr id="41" name="Shape 35"/>
          <p:cNvSpPr/>
          <p:nvPr/>
        </p:nvSpPr>
        <p:spPr>
          <a:xfrm>
            <a:off x="8451799" y="3163824"/>
            <a:ext cx="3044952" cy="0"/>
          </a:xfrm>
          <a:prstGeom prst="line">
            <a:avLst/>
          </a:prstGeom>
          <a:noFill/>
          <a:ln w="12700">
            <a:solidFill>
              <a:srgbClr val="DBE6EA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8451799" y="329184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　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100名以上を採用したい企業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稼働　</a:t>
            </a:r>
            <a:pPr indent="0" marL="0">
              <a:buNone/>
            </a:pPr>
            <a:r>
              <a:rPr lang="en-US" sz="110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採用担当として常時稼働</a:t>
            </a:r>
            <a:endParaRPr lang="en-US" sz="1100" dirty="0"/>
          </a:p>
        </p:txBody>
      </p:sp>
      <p:sp>
        <p:nvSpPr>
          <p:cNvPr id="43" name="Shape 37"/>
          <p:cNvSpPr/>
          <p:nvPr/>
        </p:nvSpPr>
        <p:spPr>
          <a:xfrm>
            <a:off x="8451799" y="4096512"/>
            <a:ext cx="3044952" cy="0"/>
          </a:xfrm>
          <a:prstGeom prst="line">
            <a:avLst/>
          </a:prstGeom>
          <a:noFill/>
          <a:ln w="12700">
            <a:solidFill>
              <a:srgbClr val="DBE6EA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8451799" y="4206240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主な業務内容</a:t>
            </a:r>
            <a:endParaRPr lang="en-US" sz="1050" dirty="0"/>
          </a:p>
        </p:txBody>
      </p:sp>
      <p:sp>
        <p:nvSpPr>
          <p:cNvPr id="45" name="Text 39"/>
          <p:cNvSpPr/>
          <p:nvPr/>
        </p:nvSpPr>
        <p:spPr>
          <a:xfrm>
            <a:off x="8451799" y="4498848"/>
            <a:ext cx="30449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採用戦略・広報　</a:t>
            </a:r>
            <a:pPr indent="0" marL="0">
              <a:spcAft>
                <a:spcPts val="1600"/>
              </a:spcAft>
              <a:buNone/>
            </a:pPr>
            <a:r>
              <a:rPr lang="en-US" sz="110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年間計画・予算管理・SNS採用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採用実務　</a:t>
            </a:r>
            <a:pPr indent="0" marL="0">
              <a:spcAft>
                <a:spcPts val="1600"/>
              </a:spcAft>
              <a:buNone/>
            </a:pPr>
            <a:r>
              <a:rPr lang="en-US" sz="110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スカウト〜面接同席まで代行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エージェント管理　</a:t>
            </a:r>
            <a:pPr indent="0" marL="0">
              <a:spcAft>
                <a:spcPts val="1600"/>
              </a:spcAft>
              <a:buNone/>
            </a:pPr>
            <a:r>
              <a:rPr lang="en-US" sz="110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開拓・フィー交渉・推薦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データ分析　</a:t>
            </a:r>
            <a:pPr indent="0" marL="0">
              <a:spcAft>
                <a:spcPts val="1600"/>
              </a:spcAft>
              <a:buNone/>
            </a:pPr>
            <a:r>
              <a:rPr lang="en-US" sz="110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内定率・媒体別CPA・採用単価</a:t>
            </a:r>
            <a:endParaRPr lang="en-US" sz="1100" dirty="0"/>
          </a:p>
        </p:txBody>
      </p:sp>
      <p:sp>
        <p:nvSpPr>
          <p:cNvPr id="46" name="Shape 40"/>
          <p:cNvSpPr/>
          <p:nvPr/>
        </p:nvSpPr>
        <p:spPr>
          <a:xfrm>
            <a:off x="457200" y="6089904"/>
            <a:ext cx="11277295" cy="457200"/>
          </a:xfrm>
          <a:prstGeom prst="roundRect">
            <a:avLst>
              <a:gd name="adj" fmla="val 16000"/>
            </a:avLst>
          </a:prstGeom>
          <a:solidFill>
            <a:srgbClr val="F3F7F8"/>
          </a:solidFill>
          <a:ln w="12700">
            <a:solidFill>
              <a:srgbClr val="DBE6EA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621792" y="6190488"/>
            <a:ext cx="256032" cy="256032"/>
          </a:xfrm>
          <a:prstGeom prst="ellipse">
            <a:avLst/>
          </a:prstGeom>
          <a:solidFill>
            <a:srgbClr val="127B8C"/>
          </a:solidFill>
          <a:ln/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" y="6249924"/>
            <a:ext cx="137160" cy="137160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987552" y="6089904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7B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オプション　</a:t>
            </a:r>
            <a:pPr indent="0" marL="0">
              <a:buNone/>
            </a:pPr>
            <a:r>
              <a:rPr lang="en-US" sz="10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面接代行 ¥30,000〜 ／ スカウト代行 ¥50,000〜 ／ 採用動画 ¥100,000〜 ／ 採用サイト ¥300,000〜 ／ 人材紹介 理論年収20〜35%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2026-08-06T04:10:57Z</dcterms:created>
  <dcterms:modified xsi:type="dcterms:W3CDTF">2026-08-06T04:10:57Z</dcterms:modified>
</cp:coreProperties>
</file>