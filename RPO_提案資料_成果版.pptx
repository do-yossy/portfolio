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課題提起→RPOで代行→3プランの位置づけ（成果ベース）。料金はあえて記載せず、成果イメージを先に提示。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プラン別のBefore→After。得られる成果を主役に、料金は記載しない。KPIは方向性（↑↓）で表現。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業務範囲と料金（参考）。金額はこの最終ページにのみ掲載。初期導入費・オプションも記載。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採用代行（RPO）サービス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「採用の悩み」を、成果に変える。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応募集めから内定まで — 貴社の採用フェーズに合わせて、成果まで伴走します。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よくある採用のお悩み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F3F7F8"/>
          </a:solidFill>
          <a:ln w="12700">
            <a:solidFill>
              <a:srgbClr val="DB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85416"/>
            <a:ext cx="365760" cy="365760"/>
          </a:xfrm>
          <a:prstGeom prst="ellipse">
            <a:avLst/>
          </a:prstGeom>
          <a:solidFill>
            <a:srgbClr val="E7EDE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26771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97510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「応募が集まらない」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母集団がつくれない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66590" y="1975104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F3F7F8"/>
          </a:solidFill>
          <a:ln w="12700">
            <a:solidFill>
              <a:srgbClr val="DB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7758" y="2185416"/>
            <a:ext cx="365760" cy="365760"/>
          </a:xfrm>
          <a:prstGeom prst="ellipse">
            <a:avLst/>
          </a:prstGeom>
          <a:solidFill>
            <a:srgbClr val="E7ED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226771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79822" y="197510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「選考で辞退される」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内定まで決まらない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75981" y="1975104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F3F7F8"/>
          </a:solidFill>
          <a:ln w="12700">
            <a:solidFill>
              <a:srgbClr val="DB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7149" y="2185416"/>
            <a:ext cx="365760" cy="365760"/>
          </a:xfrm>
          <a:prstGeom prst="ellipse">
            <a:avLst/>
          </a:prstGeom>
          <a:solidFill>
            <a:srgbClr val="E7ED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45" y="226771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89213" y="197510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「採用に手が回らない」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本業を圧迫している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292608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</a:t>
            </a:r>
            <a:pPr algn="ctr" indent="0" marL="0">
              <a:buNone/>
            </a:pPr>
            <a:r>
              <a:rPr lang="en-US" sz="1300" b="1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RPOが「戦略・求人・応募対応・改善」まで代行し、成果までご一緒します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456432"/>
            <a:ext cx="3520440" cy="2907792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24228" y="3767328"/>
            <a:ext cx="786384" cy="786384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252" y="395935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468172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／ 基盤づくり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0080" y="4901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1792" y="519379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採用の“仕組み”が整う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21792" y="5742432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専任の採用担当がいない企業へ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35628" y="3456432"/>
            <a:ext cx="3520440" cy="2907792"/>
          </a:xfrm>
          <a:prstGeom prst="roundRect">
            <a:avLst>
              <a:gd name="adj" fmla="val 3459"/>
            </a:avLst>
          </a:prstGeom>
          <a:solidFill>
            <a:srgbClr val="FDF6EC"/>
          </a:solidFill>
          <a:ln w="28575">
            <a:solidFill>
              <a:srgbClr val="D98A2B"/>
            </a:solidFill>
            <a:prstDash val="solid"/>
          </a:ln>
          <a:effectLst>
            <a:outerShdw sx="100000" sy="100000" kx="0" ky="0" algn="bl" rotWithShape="0" blurRad="152400" dist="50800" dir="5400000">
              <a:srgbClr val="C79A55">
                <a:alpha val="6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10048" y="328269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410048" y="3282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おすすめ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702656" y="3767328"/>
            <a:ext cx="786384" cy="78638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680" y="395935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18508" y="468172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／ 強化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518508" y="4901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GROWTH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500220" y="519379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“決まる”採用に変わる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4500220" y="5742432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応募はあるが決まらない企業へ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214055" y="3456432"/>
            <a:ext cx="3520440" cy="2907792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581083" y="3767328"/>
            <a:ext cx="786384" cy="786384"/>
          </a:xfrm>
          <a:prstGeom prst="ellipse">
            <a:avLst/>
          </a:prstGeom>
          <a:solidFill>
            <a:srgbClr val="10394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107" y="395935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96935" y="468172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 ／ 丸ごと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396935" y="4901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378647" y="519379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自社に“採用チーム”を持つ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8378647" y="5742432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大量採用・丸ごと任せたい企業へ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EXPECTED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プラン別に見込める成果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「今の状態」から「こう変わるか」をご覧ください。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520440" cy="48280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828800"/>
            <a:ext cx="548640" cy="548640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08483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採用の“仕組み”が整う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4944" y="254203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こんな状態から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4944" y="276148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・求人を出しても応募が来ない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・採用が後回し・片手間になっている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4944" y="3383280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345643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得られる成果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79476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" y="37398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求人→応募→対応の“型”ができる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05656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405079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応募対応の抜け漏れ・機会損失を防ぐ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41655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43616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安定した応募母集団を確保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727448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467258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採用工数を大幅に削減し本業に集中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94944" y="510235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AF3F4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93792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05840" y="5102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5C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応募数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2048256" y="510235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AF3F4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5193792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359152" y="5102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5C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採用工数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694944" y="5650992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94944" y="57424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稼働イメージ：月10〜15時間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335628" y="1572768"/>
            <a:ext cx="3520440" cy="4828032"/>
          </a:xfrm>
          <a:prstGeom prst="roundRect">
            <a:avLst>
              <a:gd name="adj" fmla="val 2857"/>
            </a:avLst>
          </a:prstGeom>
          <a:solidFill>
            <a:srgbClr val="FDF6EC"/>
          </a:solidFill>
          <a:ln w="28575">
            <a:solidFill>
              <a:srgbClr val="D98A2B"/>
            </a:solidFill>
            <a:prstDash val="solid"/>
          </a:ln>
          <a:effectLst>
            <a:outerShdw sx="100000" sy="100000" kx="0" ky="0" algn="bl" rotWithShape="0" blurRad="152400" dist="50800" dir="5400000">
              <a:srgbClr val="C79A55">
                <a:alpha val="6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5410048" y="139903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5410048" y="13990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おすすめ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573372" y="1828800"/>
            <a:ext cx="548640" cy="548640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0532" y="196596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50028" y="18288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GROWTH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5250028" y="208483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“決まる”採用に変わる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4573372" y="254203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こんな状態から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4573372" y="276148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・応募は来るが選考途中で辞退される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・面接調整・対応に手が回らない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4573372" y="3383280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573372" y="345643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得られる成果</a:t>
            </a:r>
            <a:endParaRPr lang="en-US" sz="10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3372" y="3794760"/>
            <a:ext cx="164592" cy="16459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811116" y="37398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面接辞退・離脱を抑え歩留まり改善</a:t>
            </a:r>
            <a:endParaRPr lang="en-US" sz="10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3372" y="4105656"/>
            <a:ext cx="164592" cy="16459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811116" y="405079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応募→面接→内定の転換率が向上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3372" y="4416552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4811116" y="43616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“選ばれる求人”で競合に勝つ</a:t>
            </a:r>
            <a:endParaRPr lang="en-US" sz="105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3372" y="4727448"/>
            <a:ext cx="164592" cy="164592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4811116" y="467258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採用数が計画的に積み上がる</a:t>
            </a:r>
            <a:endParaRPr lang="en-US" sz="1050" dirty="0"/>
          </a:p>
        </p:txBody>
      </p:sp>
      <p:sp>
        <p:nvSpPr>
          <p:cNvPr id="49" name="Shape 35"/>
          <p:cNvSpPr/>
          <p:nvPr/>
        </p:nvSpPr>
        <p:spPr>
          <a:xfrm>
            <a:off x="4573372" y="510235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6E9D4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1388" y="5193792"/>
            <a:ext cx="146304" cy="146304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4884268" y="5102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面接率</a:t>
            </a:r>
            <a:endParaRPr lang="en-US" sz="1050" dirty="0"/>
          </a:p>
        </p:txBody>
      </p:sp>
      <p:sp>
        <p:nvSpPr>
          <p:cNvPr id="52" name="Shape 37"/>
          <p:cNvSpPr/>
          <p:nvPr/>
        </p:nvSpPr>
        <p:spPr>
          <a:xfrm>
            <a:off x="5926684" y="510235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6E9D4"/>
          </a:solidFill>
          <a:ln/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4700" y="5193792"/>
            <a:ext cx="146304" cy="146304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6237580" y="5102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辞退率</a:t>
            </a:r>
            <a:endParaRPr lang="en-US" sz="1050" dirty="0"/>
          </a:p>
        </p:txBody>
      </p:sp>
      <p:sp>
        <p:nvSpPr>
          <p:cNvPr id="55" name="Shape 39"/>
          <p:cNvSpPr/>
          <p:nvPr/>
        </p:nvSpPr>
        <p:spPr>
          <a:xfrm>
            <a:off x="4573372" y="5650992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56" name="Text 40"/>
          <p:cNvSpPr/>
          <p:nvPr/>
        </p:nvSpPr>
        <p:spPr>
          <a:xfrm>
            <a:off x="4573372" y="57424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稼働イメージ：月25〜35時間</a:t>
            </a:r>
            <a:endParaRPr lang="en-US" sz="1050" dirty="0"/>
          </a:p>
        </p:txBody>
      </p:sp>
      <p:sp>
        <p:nvSpPr>
          <p:cNvPr id="57" name="Shape 41"/>
          <p:cNvSpPr/>
          <p:nvPr/>
        </p:nvSpPr>
        <p:spPr>
          <a:xfrm>
            <a:off x="8214055" y="1572768"/>
            <a:ext cx="3520440" cy="48280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58" name="Shape 42"/>
          <p:cNvSpPr/>
          <p:nvPr/>
        </p:nvSpPr>
        <p:spPr>
          <a:xfrm>
            <a:off x="8451799" y="1828800"/>
            <a:ext cx="548640" cy="548640"/>
          </a:xfrm>
          <a:prstGeom prst="ellipse">
            <a:avLst/>
          </a:prstGeom>
          <a:solidFill>
            <a:srgbClr val="10394A"/>
          </a:solidFill>
          <a:ln/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8959" y="1965960"/>
            <a:ext cx="274320" cy="27432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9128455" y="18288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</a:t>
            </a:r>
            <a:endParaRPr lang="en-US" sz="1300" dirty="0"/>
          </a:p>
        </p:txBody>
      </p:sp>
      <p:sp>
        <p:nvSpPr>
          <p:cNvPr id="61" name="Text 44"/>
          <p:cNvSpPr/>
          <p:nvPr/>
        </p:nvSpPr>
        <p:spPr>
          <a:xfrm>
            <a:off x="9128455" y="208483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自社に“採用チーム”を持つ</a:t>
            </a:r>
            <a:endParaRPr lang="en-US" sz="1350" dirty="0"/>
          </a:p>
        </p:txBody>
      </p:sp>
      <p:sp>
        <p:nvSpPr>
          <p:cNvPr id="62" name="Text 45"/>
          <p:cNvSpPr/>
          <p:nvPr/>
        </p:nvSpPr>
        <p:spPr>
          <a:xfrm>
            <a:off x="8451799" y="254203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こんな状態から</a:t>
            </a:r>
            <a:endParaRPr lang="en-US" sz="950" dirty="0"/>
          </a:p>
        </p:txBody>
      </p:sp>
      <p:sp>
        <p:nvSpPr>
          <p:cNvPr id="63" name="Text 46"/>
          <p:cNvSpPr/>
          <p:nvPr/>
        </p:nvSpPr>
        <p:spPr>
          <a:xfrm>
            <a:off x="8451799" y="276148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・100名以上の大量採用が必要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・経営が採用に時間を奪われている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8451799" y="3383280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65" name="Text 48"/>
          <p:cNvSpPr/>
          <p:nvPr/>
        </p:nvSpPr>
        <p:spPr>
          <a:xfrm>
            <a:off x="8451799" y="345643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得られる成果</a:t>
            </a:r>
            <a:endParaRPr lang="en-US" sz="1050" dirty="0"/>
          </a:p>
        </p:txBody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1799" y="3794760"/>
            <a:ext cx="164592" cy="164592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8689543" y="37398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自社採用チーム同等の体制を即構築</a:t>
            </a:r>
            <a:endParaRPr lang="en-US" sz="1050" dirty="0"/>
          </a:p>
        </p:txBody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1799" y="4105656"/>
            <a:ext cx="164592" cy="164592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8689543" y="405079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大量採用でも品質を保って回る</a:t>
            </a:r>
            <a:endParaRPr lang="en-US" sz="1050" dirty="0"/>
          </a:p>
        </p:txBody>
      </p:sp>
      <p:pic>
        <p:nvPicPr>
          <p:cNvPr id="7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1799" y="4416552"/>
            <a:ext cx="164592" cy="164592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8689543" y="43616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採用単価・CPAを継続的に最適化</a:t>
            </a:r>
            <a:endParaRPr lang="en-US" sz="1050" dirty="0"/>
          </a:p>
        </p:txBody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1799" y="4727448"/>
            <a:ext cx="164592" cy="164592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8689543" y="467258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経営は事業に専念できる</a:t>
            </a:r>
            <a:endParaRPr lang="en-US" sz="1050" dirty="0"/>
          </a:p>
        </p:txBody>
      </p:sp>
      <p:sp>
        <p:nvSpPr>
          <p:cNvPr id="74" name="Shape 53"/>
          <p:cNvSpPr/>
          <p:nvPr/>
        </p:nvSpPr>
        <p:spPr>
          <a:xfrm>
            <a:off x="8451799" y="510235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AF3F4"/>
          </a:solidFill>
          <a:ln/>
        </p:spPr>
      </p:sp>
      <p:pic>
        <p:nvPicPr>
          <p:cNvPr id="7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9815" y="5193792"/>
            <a:ext cx="146304" cy="146304"/>
          </a:xfrm>
          <a:prstGeom prst="rect">
            <a:avLst/>
          </a:prstGeom>
        </p:spPr>
      </p:pic>
      <p:sp>
        <p:nvSpPr>
          <p:cNvPr id="76" name="Text 54"/>
          <p:cNvSpPr/>
          <p:nvPr/>
        </p:nvSpPr>
        <p:spPr>
          <a:xfrm>
            <a:off x="8762695" y="5102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5C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採用単価</a:t>
            </a:r>
            <a:endParaRPr lang="en-US" sz="1050" dirty="0"/>
          </a:p>
        </p:txBody>
      </p:sp>
      <p:sp>
        <p:nvSpPr>
          <p:cNvPr id="77" name="Shape 55"/>
          <p:cNvSpPr/>
          <p:nvPr/>
        </p:nvSpPr>
        <p:spPr>
          <a:xfrm>
            <a:off x="9805111" y="510235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AF3F4"/>
          </a:solidFill>
          <a:ln/>
        </p:spPr>
      </p:sp>
      <p:pic>
        <p:nvPicPr>
          <p:cNvPr id="7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3127" y="5193792"/>
            <a:ext cx="146304" cy="146304"/>
          </a:xfrm>
          <a:prstGeom prst="rect">
            <a:avLst/>
          </a:prstGeom>
        </p:spPr>
      </p:pic>
      <p:sp>
        <p:nvSpPr>
          <p:cNvPr id="79" name="Text 56"/>
          <p:cNvSpPr/>
          <p:nvPr/>
        </p:nvSpPr>
        <p:spPr>
          <a:xfrm>
            <a:off x="10116007" y="5102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5C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採用力</a:t>
            </a:r>
            <a:endParaRPr lang="en-US" sz="1050" dirty="0"/>
          </a:p>
        </p:txBody>
      </p:sp>
      <p:sp>
        <p:nvSpPr>
          <p:cNvPr id="80" name="Shape 57"/>
          <p:cNvSpPr/>
          <p:nvPr/>
        </p:nvSpPr>
        <p:spPr>
          <a:xfrm>
            <a:off x="8451799" y="5650992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81" name="Text 58"/>
          <p:cNvSpPr/>
          <p:nvPr/>
        </p:nvSpPr>
        <p:spPr>
          <a:xfrm>
            <a:off x="8451799" y="57424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稼働イメージ：採用担当として常時稼働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SERVICE &amp; PRICE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サービス範囲と料金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各プランの業務範囲と料金のご案内です（ご参考）。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352044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19072"/>
            <a:ext cx="475488" cy="475488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3794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0078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97510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150,000円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" y="2340864"/>
            <a:ext cx="3081528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2432304"/>
            <a:ext cx="30815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採用計画ヒアリング／募集職種の整理／ターゲット設計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求人運用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求人原稿作成／媒体掲載／更新／改善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応募管理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応募者確認／リスト管理／状況共有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採用改善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月次レポート／月1回定例MTG／改善提案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35628" y="1517904"/>
            <a:ext cx="3520440" cy="4114800"/>
          </a:xfrm>
          <a:prstGeom prst="roundRect">
            <a:avLst>
              <a:gd name="adj" fmla="val 2857"/>
            </a:avLst>
          </a:prstGeom>
          <a:solidFill>
            <a:srgbClr val="FDF6EC"/>
          </a:solidFill>
          <a:ln w="28575">
            <a:solidFill>
              <a:srgbClr val="D98A2B"/>
            </a:solidFill>
            <a:prstDash val="solid"/>
          </a:ln>
          <a:effectLst>
            <a:outerShdw sx="100000" sy="100000" kx="0" ky="0" algn="bl" rotWithShape="0" blurRad="152400" dist="50800" dir="5400000">
              <a:srgbClr val="C79A55">
                <a:alpha val="6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5084" y="1719072"/>
            <a:ext cx="475488" cy="475488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956" y="183794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58588" y="170078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GROWTH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58588" y="197510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300,000円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55084" y="2340864"/>
            <a:ext cx="3081528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55084" y="243230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STARTの全内容に加えて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555084" y="2688336"/>
            <a:ext cx="30815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応募者対応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応募返信／面接案内／日程調整／リマインド送信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歩留まり改善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面接辞退防止／面接後フォロー／面接率改善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求人マーケティング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競合分析／給与相場分析／原稿ABテスト／媒体選定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採用会議（月2回）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応募数・面接率・採用率・改善提案を経営者へ報告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214055" y="1517904"/>
            <a:ext cx="352044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33511" y="1719072"/>
            <a:ext cx="475488" cy="475488"/>
          </a:xfrm>
          <a:prstGeom prst="ellipse">
            <a:avLst/>
          </a:prstGeom>
          <a:solidFill>
            <a:srgbClr val="1039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383" y="183794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37015" y="170078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037015" y="197510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500,000円〜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433511" y="2340864"/>
            <a:ext cx="3081528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33511" y="2432304"/>
            <a:ext cx="30815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年間採用計画／予算管理／KPI作成／媒体選定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採用広報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採用ページ改善／SNS採用／会社説明資料作成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採用実務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求人作成／スカウト送信／応募対応／面接調整・同席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エージェント管理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紹介会社対応／開拓／フィー交渉／推薦管理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データ分析</a:t>
            </a:r>
            <a:endParaRPr lang="en-US" sz="9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応募率／面接率／内定率／辞退率／媒体別CPA／単価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57200" y="576072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10394A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21792" y="5833872"/>
            <a:ext cx="237744" cy="23774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5893308"/>
            <a:ext cx="118872" cy="1188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初期導入費 ¥100,000（初回のみ）　</a:t>
            </a:r>
            <a:pPr indent="0" marL="0">
              <a:buNone/>
            </a:pPr>
            <a:r>
              <a:rPr lang="en-US" sz="900" dirty="0">
                <a:solidFill>
                  <a:srgbClr val="CFD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採用課題ヒアリング／フロー構築／求人原稿／ATS初期設定／テンプレート／KPI設計／媒体整備／キックオフ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57200" y="6236208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F3F7F8"/>
          </a:solidFill>
          <a:ln w="12700">
            <a:solidFill>
              <a:srgbClr val="DBE6E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1792" y="6309360"/>
            <a:ext cx="237744" cy="237744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5" y="6366053"/>
            <a:ext cx="123444" cy="1234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87552" y="62362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　</a:t>
            </a:r>
            <a:pPr indent="0" marL="0">
              <a:buNone/>
            </a:pPr>
            <a:r>
              <a:rPr lang="en-US" sz="10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面接代行 ¥30,000〜 ／ スカウト代行 ¥50,000〜 ／ 採用動画 ¥100,000〜 ／ 採用サイト ¥300,000〜 ／ 人材紹介 理論年収20〜35%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2026-08-06T04:31:00Z</dcterms:created>
  <dcterms:modified xsi:type="dcterms:W3CDTF">2026-08-06T04:31:00Z</dcterms:modified>
</cp:coreProperties>
</file>