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RPO（採用代行）サービスの料金プラン提案。初期導入費10万円。START(月15万)/GROWTH(月30万・おすすめ)/PARTNER(月50万〜)の3プランとオプションを掲載。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各プランの業務内容詳細。初期導入費に含まれる項目を下部に記載。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27B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採用代行（RPO）サービス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75488" y="621792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039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料金プラン ご提案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02920" y="1316736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E7A8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貴社の採用フェーズに最適な3つのプラン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14055" y="457200"/>
            <a:ext cx="3520440" cy="932688"/>
          </a:xfrm>
          <a:prstGeom prst="roundRect">
            <a:avLst>
              <a:gd name="adj" fmla="val 9804"/>
            </a:avLst>
          </a:prstGeom>
          <a:solidFill>
            <a:srgbClr val="10394A"/>
          </a:solidFill>
          <a:ln/>
          <a:effectLst>
            <a:outerShdw sx="100000" sy="100000" kx="0" ky="0" algn="bl" rotWithShape="0" blurRad="114300" dist="38100" dir="5400000">
              <a:srgbClr val="9FB4BC">
                <a:alpha val="5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5223" y="649224"/>
            <a:ext cx="548640" cy="548640"/>
          </a:xfrm>
          <a:prstGeom prst="ellipse">
            <a:avLst/>
          </a:prstGeom>
          <a:solidFill>
            <a:srgbClr val="D98A2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3239" y="77724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082735" y="57607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D9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初期導入費</a:t>
            </a:r>
            <a:pPr indent="0" marL="0">
              <a:buNone/>
            </a:pPr>
            <a:r>
              <a:rPr lang="en-US" sz="850" dirty="0">
                <a:solidFill>
                  <a:srgbClr val="C9D6D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（初回のみ）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082735" y="786384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¥100,000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9082735" y="112471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FC2C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採用フロー構築・ATS設定・KPI設計・キックオフ 他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57200" y="1517904"/>
            <a:ext cx="3520440" cy="4334256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BE6EA"/>
            </a:solidFill>
            <a:prstDash val="solid"/>
          </a:ln>
          <a:effectLst>
            <a:outerShdw sx="100000" sy="100000" kx="0" ky="0" algn="bl" rotWithShape="0" blurRad="114300" dist="38100" dir="5400000">
              <a:srgbClr val="9FB4BC">
                <a:alpha val="5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94944" y="1773936"/>
            <a:ext cx="585216" cy="585216"/>
          </a:xfrm>
          <a:prstGeom prst="ellipse">
            <a:avLst/>
          </a:prstGeom>
          <a:solidFill>
            <a:srgbClr val="127B8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" y="1911096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08176" y="1773936"/>
            <a:ext cx="2459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127B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START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1408176" y="2103120"/>
            <a:ext cx="2459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A8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はじめての採用代行に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694944" y="2487168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39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¥150,000</a:t>
            </a:r>
            <a:pPr indent="0" marL="0">
              <a:buNone/>
            </a:pPr>
            <a:r>
              <a:rPr lang="en-US" sz="1200" dirty="0">
                <a:solidFill>
                  <a:srgbClr val="5E7A8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/ 月</a:t>
            </a:r>
            <a:endParaRPr lang="en-US" sz="2500" dirty="0"/>
          </a:p>
        </p:txBody>
      </p:sp>
      <p:sp>
        <p:nvSpPr>
          <p:cNvPr id="17" name="Shape 13"/>
          <p:cNvSpPr/>
          <p:nvPr/>
        </p:nvSpPr>
        <p:spPr>
          <a:xfrm>
            <a:off x="694944" y="3035808"/>
            <a:ext cx="3044952" cy="0"/>
          </a:xfrm>
          <a:prstGeom prst="line">
            <a:avLst/>
          </a:prstGeom>
          <a:noFill/>
          <a:ln w="12700">
            <a:solidFill>
              <a:srgbClr val="DBE6E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94944" y="3145536"/>
            <a:ext cx="3044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7B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　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C2E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採用担当者がいない企業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27B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稼働　</a:t>
            </a:r>
            <a:pPr indent="0" marL="0">
              <a:buNone/>
            </a:pPr>
            <a:r>
              <a:rPr lang="en-US" sz="1050" dirty="0">
                <a:solidFill>
                  <a:srgbClr val="1C2E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月10〜15時間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694944" y="3858768"/>
            <a:ext cx="3044952" cy="0"/>
          </a:xfrm>
          <a:prstGeom prst="line">
            <a:avLst/>
          </a:prstGeom>
          <a:noFill/>
          <a:ln w="12700">
            <a:solidFill>
              <a:srgbClr val="DBE6E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94944" y="3950208"/>
            <a:ext cx="3044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E7A8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主な業務内容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94944" y="4242816"/>
            <a:ext cx="30449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27B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採用戦略　</a:t>
            </a:r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1C2E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計画ヒアリング・ターゲット設計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27B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求人運用　</a:t>
            </a:r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1C2E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原稿作成・媒体掲載・改善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27B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応募管理　</a:t>
            </a:r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1C2E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応募者確認・リスト・状況共有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27B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採用改善　</a:t>
            </a:r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1C2E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月次レポート・月1回定例MTG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4335628" y="1517904"/>
            <a:ext cx="3520440" cy="4334256"/>
          </a:xfrm>
          <a:prstGeom prst="roundRect">
            <a:avLst>
              <a:gd name="adj" fmla="val 2857"/>
            </a:avLst>
          </a:prstGeom>
          <a:solidFill>
            <a:srgbClr val="FDF6EC"/>
          </a:solidFill>
          <a:ln w="28575">
            <a:solidFill>
              <a:srgbClr val="D98A2B"/>
            </a:solidFill>
            <a:prstDash val="solid"/>
          </a:ln>
          <a:effectLst>
            <a:outerShdw sx="100000" sy="100000" kx="0" ky="0" algn="bl" rotWithShape="0" blurRad="152400" dist="50800" dir="5400000">
              <a:srgbClr val="C79A55">
                <a:alpha val="6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5410048" y="1344168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D98A2B"/>
          </a:solidFill>
          <a:ln/>
          <a:effectLst>
            <a:outerShdw sx="100000" sy="100000" kx="0" ky="0" algn="bl" rotWithShape="0" blurRad="114300" dist="38100" dir="5400000">
              <a:srgbClr val="9FB4BC">
                <a:alpha val="55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5410048" y="134416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 おすすめ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4573372" y="1773936"/>
            <a:ext cx="585216" cy="585216"/>
          </a:xfrm>
          <a:prstGeom prst="ellipse">
            <a:avLst/>
          </a:prstGeom>
          <a:solidFill>
            <a:srgbClr val="D98A2B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0532" y="1911096"/>
            <a:ext cx="310896" cy="31089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5286604" y="1773936"/>
            <a:ext cx="2459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B26F1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GROWTH</a:t>
            </a:r>
            <a:endParaRPr lang="en-US" sz="2000" dirty="0"/>
          </a:p>
        </p:txBody>
      </p:sp>
      <p:sp>
        <p:nvSpPr>
          <p:cNvPr id="28" name="Text 23"/>
          <p:cNvSpPr/>
          <p:nvPr/>
        </p:nvSpPr>
        <p:spPr>
          <a:xfrm>
            <a:off x="5286604" y="2103120"/>
            <a:ext cx="2459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A8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採用を本気で強化する</a:t>
            </a:r>
            <a:endParaRPr lang="en-US" sz="950" dirty="0"/>
          </a:p>
        </p:txBody>
      </p:sp>
      <p:sp>
        <p:nvSpPr>
          <p:cNvPr id="29" name="Text 24"/>
          <p:cNvSpPr/>
          <p:nvPr/>
        </p:nvSpPr>
        <p:spPr>
          <a:xfrm>
            <a:off x="4573372" y="2487168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39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¥300,000</a:t>
            </a:r>
            <a:pPr indent="0" marL="0">
              <a:buNone/>
            </a:pPr>
            <a:r>
              <a:rPr lang="en-US" sz="1200" dirty="0">
                <a:solidFill>
                  <a:srgbClr val="5E7A8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/ 月</a:t>
            </a:r>
            <a:endParaRPr lang="en-US" sz="2500" dirty="0"/>
          </a:p>
        </p:txBody>
      </p:sp>
      <p:sp>
        <p:nvSpPr>
          <p:cNvPr id="30" name="Shape 25"/>
          <p:cNvSpPr/>
          <p:nvPr/>
        </p:nvSpPr>
        <p:spPr>
          <a:xfrm>
            <a:off x="4573372" y="3035808"/>
            <a:ext cx="3044952" cy="0"/>
          </a:xfrm>
          <a:prstGeom prst="line">
            <a:avLst/>
          </a:prstGeom>
          <a:noFill/>
          <a:ln w="12700">
            <a:solidFill>
              <a:srgbClr val="DBE6EA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4573372" y="3145536"/>
            <a:ext cx="3044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8A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　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C2E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採用を本気で強化したい企業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D98A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稼働　</a:t>
            </a:r>
            <a:pPr indent="0" marL="0">
              <a:buNone/>
            </a:pPr>
            <a:r>
              <a:rPr lang="en-US" sz="1050" dirty="0">
                <a:solidFill>
                  <a:srgbClr val="1C2E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月25〜35時間</a:t>
            </a:r>
            <a:endParaRPr lang="en-US" sz="1050" dirty="0"/>
          </a:p>
        </p:txBody>
      </p:sp>
      <p:sp>
        <p:nvSpPr>
          <p:cNvPr id="32" name="Shape 27"/>
          <p:cNvSpPr/>
          <p:nvPr/>
        </p:nvSpPr>
        <p:spPr>
          <a:xfrm>
            <a:off x="4573372" y="3858768"/>
            <a:ext cx="3044952" cy="0"/>
          </a:xfrm>
          <a:prstGeom prst="line">
            <a:avLst/>
          </a:prstGeom>
          <a:noFill/>
          <a:ln w="12700">
            <a:solidFill>
              <a:srgbClr val="DBE6EA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4573372" y="3950208"/>
            <a:ext cx="3044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26F1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STARTの全内容 ＋</a:t>
            </a:r>
            <a:endParaRPr lang="en-US" sz="1000" dirty="0"/>
          </a:p>
        </p:txBody>
      </p:sp>
      <p:sp>
        <p:nvSpPr>
          <p:cNvPr id="34" name="Text 29"/>
          <p:cNvSpPr/>
          <p:nvPr/>
        </p:nvSpPr>
        <p:spPr>
          <a:xfrm>
            <a:off x="4573372" y="4242816"/>
            <a:ext cx="30449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D98A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応募者対応　</a:t>
            </a:r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1C2E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返信・面接案内・日程調整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D98A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歩留まり改善　</a:t>
            </a:r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1C2E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辞退防止・面接後フォロー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D98A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求人マーケ　</a:t>
            </a:r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1C2E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競合/相場分析・原稿ABテスト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D98A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採用会議　</a:t>
            </a:r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1C2E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月2回・経営者へ数値報告</a:t>
            </a:r>
            <a:endParaRPr lang="en-US" sz="1050" dirty="0"/>
          </a:p>
        </p:txBody>
      </p:sp>
      <p:sp>
        <p:nvSpPr>
          <p:cNvPr id="35" name="Shape 30"/>
          <p:cNvSpPr/>
          <p:nvPr/>
        </p:nvSpPr>
        <p:spPr>
          <a:xfrm>
            <a:off x="8214055" y="1517904"/>
            <a:ext cx="3520440" cy="4334256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BE6EA"/>
            </a:solidFill>
            <a:prstDash val="solid"/>
          </a:ln>
          <a:effectLst>
            <a:outerShdw sx="100000" sy="100000" kx="0" ky="0" algn="bl" rotWithShape="0" blurRad="114300" dist="38100" dir="5400000">
              <a:srgbClr val="9FB4BC">
                <a:alpha val="55000"/>
              </a:srgbClr>
            </a:outerShdw>
          </a:effectLst>
        </p:spPr>
      </p:sp>
      <p:sp>
        <p:nvSpPr>
          <p:cNvPr id="36" name="Shape 31"/>
          <p:cNvSpPr/>
          <p:nvPr/>
        </p:nvSpPr>
        <p:spPr>
          <a:xfrm>
            <a:off x="8451799" y="1773936"/>
            <a:ext cx="585216" cy="585216"/>
          </a:xfrm>
          <a:prstGeom prst="ellipse">
            <a:avLst/>
          </a:prstGeom>
          <a:solidFill>
            <a:srgbClr val="10394A"/>
          </a:solidFill>
          <a:ln/>
        </p:spPr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8959" y="1911096"/>
            <a:ext cx="310896" cy="310896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9165031" y="1773936"/>
            <a:ext cx="2459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1039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PARTNER</a:t>
            </a:r>
            <a:endParaRPr lang="en-US" sz="2000" dirty="0"/>
          </a:p>
        </p:txBody>
      </p:sp>
      <p:sp>
        <p:nvSpPr>
          <p:cNvPr id="39" name="Text 33"/>
          <p:cNvSpPr/>
          <p:nvPr/>
        </p:nvSpPr>
        <p:spPr>
          <a:xfrm>
            <a:off x="9165031" y="2103120"/>
            <a:ext cx="2459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A8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採用まるごとお任せ</a:t>
            </a:r>
            <a:endParaRPr lang="en-US" sz="950" dirty="0"/>
          </a:p>
        </p:txBody>
      </p:sp>
      <p:sp>
        <p:nvSpPr>
          <p:cNvPr id="40" name="Text 34"/>
          <p:cNvSpPr/>
          <p:nvPr/>
        </p:nvSpPr>
        <p:spPr>
          <a:xfrm>
            <a:off x="8451799" y="2487168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39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¥500,000〜</a:t>
            </a:r>
            <a:pPr indent="0" marL="0">
              <a:buNone/>
            </a:pPr>
            <a:r>
              <a:rPr lang="en-US" sz="1200" dirty="0">
                <a:solidFill>
                  <a:srgbClr val="5E7A8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/ 月</a:t>
            </a:r>
            <a:endParaRPr lang="en-US" sz="2500" dirty="0"/>
          </a:p>
        </p:txBody>
      </p:sp>
      <p:sp>
        <p:nvSpPr>
          <p:cNvPr id="41" name="Shape 35"/>
          <p:cNvSpPr/>
          <p:nvPr/>
        </p:nvSpPr>
        <p:spPr>
          <a:xfrm>
            <a:off x="8451799" y="3035808"/>
            <a:ext cx="3044952" cy="0"/>
          </a:xfrm>
          <a:prstGeom prst="line">
            <a:avLst/>
          </a:prstGeom>
          <a:noFill/>
          <a:ln w="12700">
            <a:solidFill>
              <a:srgbClr val="DBE6EA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8451799" y="3145536"/>
            <a:ext cx="3044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39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　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C2E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100名以上を採用したい企業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039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稼働　</a:t>
            </a:r>
            <a:pPr indent="0" marL="0">
              <a:buNone/>
            </a:pPr>
            <a:r>
              <a:rPr lang="en-US" sz="1050" dirty="0">
                <a:solidFill>
                  <a:srgbClr val="1C2E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採用担当として常時稼働</a:t>
            </a:r>
            <a:endParaRPr lang="en-US" sz="1050" dirty="0"/>
          </a:p>
        </p:txBody>
      </p:sp>
      <p:sp>
        <p:nvSpPr>
          <p:cNvPr id="43" name="Shape 37"/>
          <p:cNvSpPr/>
          <p:nvPr/>
        </p:nvSpPr>
        <p:spPr>
          <a:xfrm>
            <a:off x="8451799" y="3858768"/>
            <a:ext cx="3044952" cy="0"/>
          </a:xfrm>
          <a:prstGeom prst="line">
            <a:avLst/>
          </a:prstGeom>
          <a:noFill/>
          <a:ln w="12700">
            <a:solidFill>
              <a:srgbClr val="DBE6EA"/>
            </a:solidFill>
            <a:prstDash val="solid"/>
          </a:ln>
        </p:spPr>
      </p:sp>
      <p:sp>
        <p:nvSpPr>
          <p:cNvPr id="44" name="Text 38"/>
          <p:cNvSpPr/>
          <p:nvPr/>
        </p:nvSpPr>
        <p:spPr>
          <a:xfrm>
            <a:off x="8451799" y="3950208"/>
            <a:ext cx="3044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E7A8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主な業務内容</a:t>
            </a:r>
            <a:endParaRPr lang="en-US" sz="1000" dirty="0"/>
          </a:p>
        </p:txBody>
      </p:sp>
      <p:sp>
        <p:nvSpPr>
          <p:cNvPr id="45" name="Text 39"/>
          <p:cNvSpPr/>
          <p:nvPr/>
        </p:nvSpPr>
        <p:spPr>
          <a:xfrm>
            <a:off x="8451799" y="4242816"/>
            <a:ext cx="30449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039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採用戦略・広報　</a:t>
            </a:r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1C2E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年間計画・予算管理・SNS採用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039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採用実務　</a:t>
            </a:r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1C2E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スカウト〜面接同席まで代行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039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エージェント管理　</a:t>
            </a:r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1C2E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開拓・フィー交渉・推薦管理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039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データ分析　</a:t>
            </a:r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1C2E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内定率・媒体別CPA・採用単価</a:t>
            </a:r>
            <a:endParaRPr lang="en-US" sz="1050" dirty="0"/>
          </a:p>
        </p:txBody>
      </p:sp>
      <p:sp>
        <p:nvSpPr>
          <p:cNvPr id="46" name="Shape 40"/>
          <p:cNvSpPr/>
          <p:nvPr/>
        </p:nvSpPr>
        <p:spPr>
          <a:xfrm>
            <a:off x="457200" y="6071616"/>
            <a:ext cx="11277295" cy="457200"/>
          </a:xfrm>
          <a:prstGeom prst="roundRect">
            <a:avLst>
              <a:gd name="adj" fmla="val 16000"/>
            </a:avLst>
          </a:prstGeom>
          <a:solidFill>
            <a:srgbClr val="F3F7F8"/>
          </a:solidFill>
          <a:ln w="12700">
            <a:solidFill>
              <a:srgbClr val="DBE6EA"/>
            </a:solidFill>
            <a:prstDash val="solid"/>
          </a:ln>
        </p:spPr>
      </p:sp>
      <p:sp>
        <p:nvSpPr>
          <p:cNvPr id="47" name="Shape 41"/>
          <p:cNvSpPr/>
          <p:nvPr/>
        </p:nvSpPr>
        <p:spPr>
          <a:xfrm>
            <a:off x="621792" y="6172200"/>
            <a:ext cx="256032" cy="256032"/>
          </a:xfrm>
          <a:prstGeom prst="ellipse">
            <a:avLst/>
          </a:prstGeom>
          <a:solidFill>
            <a:srgbClr val="127B8C"/>
          </a:solidFill>
          <a:ln/>
        </p:spPr>
      </p:sp>
      <p:pic>
        <p:nvPicPr>
          <p:cNvPr id="4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28" y="6231636"/>
            <a:ext cx="137160" cy="137160"/>
          </a:xfrm>
          <a:prstGeom prst="rect">
            <a:avLst/>
          </a:prstGeom>
        </p:spPr>
      </p:pic>
      <p:sp>
        <p:nvSpPr>
          <p:cNvPr id="49" name="Text 42"/>
          <p:cNvSpPr/>
          <p:nvPr/>
        </p:nvSpPr>
        <p:spPr>
          <a:xfrm>
            <a:off x="987552" y="6071616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7B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オプション　</a:t>
            </a:r>
            <a:pPr indent="0" marL="0">
              <a:buNone/>
            </a:pPr>
            <a:r>
              <a:rPr lang="en-US" sz="1050" dirty="0">
                <a:solidFill>
                  <a:srgbClr val="1C2E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面接代行 ¥30,000〜 ／ スカウト代行 ¥50,000〜 ／ 採用動画 ¥100,000〜 ／ 採用サイト ¥300,000〜 ／ 人材紹介 理論年収20〜35%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27B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SERVICE DETAIL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75488" y="60350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39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業務内容の詳細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1521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7A8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各プランでご提供する業務範囲の一覧です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3520440" cy="4261104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BE6EA"/>
            </a:solidFill>
            <a:prstDash val="solid"/>
          </a:ln>
          <a:effectLst>
            <a:outerShdw sx="100000" sy="100000" kx="0" ky="0" algn="bl" rotWithShape="0" blurRad="114300" dist="38100" dir="5400000">
              <a:srgbClr val="9FB4BC">
                <a:alpha val="5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76656" y="1700784"/>
            <a:ext cx="512064" cy="512064"/>
          </a:xfrm>
          <a:prstGeom prst="ellipse">
            <a:avLst/>
          </a:prstGeom>
          <a:solidFill>
            <a:srgbClr val="127B8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1824228"/>
            <a:ext cx="265176" cy="2651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16736" y="1700784"/>
            <a:ext cx="2551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127B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START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316736" y="1993392"/>
            <a:ext cx="2587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39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¥150,000 / 月</a:t>
            </a:r>
            <a:pPr indent="0" marL="0">
              <a:buNone/>
            </a:pPr>
            <a:r>
              <a:rPr lang="en-US" sz="900" dirty="0">
                <a:solidFill>
                  <a:srgbClr val="5E7A8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（月10〜15時間）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76656" y="2377440"/>
            <a:ext cx="3081528" cy="0"/>
          </a:xfrm>
          <a:prstGeom prst="line">
            <a:avLst/>
          </a:prstGeom>
          <a:noFill/>
          <a:ln w="12700">
            <a:solidFill>
              <a:srgbClr val="DBE6E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6656" y="2468880"/>
            <a:ext cx="3081528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80" b="1" dirty="0">
                <a:solidFill>
                  <a:srgbClr val="127B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採用戦略</a:t>
            </a:r>
            <a:endParaRPr lang="en-US" sz="980" dirty="0"/>
          </a:p>
          <a:p>
            <a:pPr indent="0" marL="0">
              <a:lnSpc>
                <a:spcPct val="102000"/>
              </a:lnSpc>
              <a:spcAft>
                <a:spcPts val="800"/>
              </a:spcAft>
              <a:buNone/>
            </a:pPr>
            <a:r>
              <a:rPr lang="en-US" sz="980" dirty="0">
                <a:solidFill>
                  <a:srgbClr val="1C2E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採用計画ヒアリング／募集職種の整理／採用ターゲット設計</a:t>
            </a:r>
            <a:endParaRPr lang="en-US" sz="98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80" b="1" dirty="0">
                <a:solidFill>
                  <a:srgbClr val="127B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求人運用</a:t>
            </a:r>
            <a:endParaRPr lang="en-US" sz="980" dirty="0"/>
          </a:p>
          <a:p>
            <a:pPr indent="0" marL="0">
              <a:lnSpc>
                <a:spcPct val="102000"/>
              </a:lnSpc>
              <a:spcAft>
                <a:spcPts val="800"/>
              </a:spcAft>
              <a:buNone/>
            </a:pPr>
            <a:r>
              <a:rPr lang="en-US" sz="980" dirty="0">
                <a:solidFill>
                  <a:srgbClr val="1C2E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求人原稿作成／求人媒体掲載／求人更新／求人改善</a:t>
            </a:r>
            <a:endParaRPr lang="en-US" sz="98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80" b="1" dirty="0">
                <a:solidFill>
                  <a:srgbClr val="127B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応募管理</a:t>
            </a:r>
            <a:endParaRPr lang="en-US" sz="980" dirty="0"/>
          </a:p>
          <a:p>
            <a:pPr indent="0" marL="0">
              <a:lnSpc>
                <a:spcPct val="102000"/>
              </a:lnSpc>
              <a:spcAft>
                <a:spcPts val="800"/>
              </a:spcAft>
              <a:buNone/>
            </a:pPr>
            <a:r>
              <a:rPr lang="en-US" sz="980" dirty="0">
                <a:solidFill>
                  <a:srgbClr val="1C2E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応募者確認／応募者リスト管理／応募状況共有</a:t>
            </a:r>
            <a:endParaRPr lang="en-US" sz="98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80" b="1" dirty="0">
                <a:solidFill>
                  <a:srgbClr val="127B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採用改善</a:t>
            </a:r>
            <a:endParaRPr lang="en-US" sz="980" dirty="0"/>
          </a:p>
          <a:p>
            <a:pPr indent="0" marL="0">
              <a:lnSpc>
                <a:spcPct val="102000"/>
              </a:lnSpc>
              <a:spcAft>
                <a:spcPts val="800"/>
              </a:spcAft>
              <a:buNone/>
            </a:pPr>
            <a:r>
              <a:rPr lang="en-US" sz="980" dirty="0">
                <a:solidFill>
                  <a:srgbClr val="1C2E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月次レポート／月1回定例MTG／採用改善提案</a:t>
            </a:r>
            <a:endParaRPr lang="en-US" sz="980" dirty="0"/>
          </a:p>
        </p:txBody>
      </p:sp>
      <p:sp>
        <p:nvSpPr>
          <p:cNvPr id="12" name="Shape 9"/>
          <p:cNvSpPr/>
          <p:nvPr/>
        </p:nvSpPr>
        <p:spPr>
          <a:xfrm>
            <a:off x="4335628" y="1481328"/>
            <a:ext cx="3520440" cy="4261104"/>
          </a:xfrm>
          <a:prstGeom prst="roundRect">
            <a:avLst>
              <a:gd name="adj" fmla="val 2857"/>
            </a:avLst>
          </a:prstGeom>
          <a:solidFill>
            <a:srgbClr val="FDF6EC"/>
          </a:solidFill>
          <a:ln w="28575">
            <a:solidFill>
              <a:srgbClr val="D98A2B"/>
            </a:solidFill>
            <a:prstDash val="solid"/>
          </a:ln>
          <a:effectLst>
            <a:outerShdw sx="100000" sy="100000" kx="0" ky="0" algn="bl" rotWithShape="0" blurRad="152400" dist="50800" dir="5400000">
              <a:srgbClr val="C79A55">
                <a:alpha val="6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55084" y="1700784"/>
            <a:ext cx="512064" cy="512064"/>
          </a:xfrm>
          <a:prstGeom prst="ellipse">
            <a:avLst/>
          </a:prstGeom>
          <a:solidFill>
            <a:srgbClr val="D98A2B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8528" y="1824228"/>
            <a:ext cx="265176" cy="26517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195164" y="1700784"/>
            <a:ext cx="2551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B26F1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GROWTH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5195164" y="1993392"/>
            <a:ext cx="2587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39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¥300,000 / 月</a:t>
            </a:r>
            <a:pPr indent="0" marL="0">
              <a:buNone/>
            </a:pPr>
            <a:r>
              <a:rPr lang="en-US" sz="900" dirty="0">
                <a:solidFill>
                  <a:srgbClr val="5E7A8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（月25〜35時間）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555084" y="2377440"/>
            <a:ext cx="3081528" cy="0"/>
          </a:xfrm>
          <a:prstGeom prst="line">
            <a:avLst/>
          </a:prstGeom>
          <a:noFill/>
          <a:ln w="12700">
            <a:solidFill>
              <a:srgbClr val="DBE6E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555084" y="2468880"/>
            <a:ext cx="3081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26F1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STARTの全内容に加えて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4555084" y="2724912"/>
            <a:ext cx="308152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80" b="1" dirty="0">
                <a:solidFill>
                  <a:srgbClr val="D98A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応募者対応</a:t>
            </a:r>
            <a:endParaRPr lang="en-US" sz="980" dirty="0"/>
          </a:p>
          <a:p>
            <a:pPr indent="0" marL="0">
              <a:lnSpc>
                <a:spcPct val="102000"/>
              </a:lnSpc>
              <a:spcAft>
                <a:spcPts val="800"/>
              </a:spcAft>
              <a:buNone/>
            </a:pPr>
            <a:r>
              <a:rPr lang="en-US" sz="980" dirty="0">
                <a:solidFill>
                  <a:srgbClr val="1C2E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応募返信／面接案内／面接日程調整／リマインド送信</a:t>
            </a:r>
            <a:endParaRPr lang="en-US" sz="98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80" b="1" dirty="0">
                <a:solidFill>
                  <a:srgbClr val="D98A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歩留まり改善</a:t>
            </a:r>
            <a:endParaRPr lang="en-US" sz="980" dirty="0"/>
          </a:p>
          <a:p>
            <a:pPr indent="0" marL="0">
              <a:lnSpc>
                <a:spcPct val="102000"/>
              </a:lnSpc>
              <a:spcAft>
                <a:spcPts val="800"/>
              </a:spcAft>
              <a:buNone/>
            </a:pPr>
            <a:r>
              <a:rPr lang="en-US" sz="980" dirty="0">
                <a:solidFill>
                  <a:srgbClr val="1C2E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面接辞退防止／面接後フォロー／面接率改善</a:t>
            </a:r>
            <a:endParaRPr lang="en-US" sz="98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80" b="1" dirty="0">
                <a:solidFill>
                  <a:srgbClr val="D98A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求人マーケティング</a:t>
            </a:r>
            <a:endParaRPr lang="en-US" sz="980" dirty="0"/>
          </a:p>
          <a:p>
            <a:pPr indent="0" marL="0">
              <a:lnSpc>
                <a:spcPct val="102000"/>
              </a:lnSpc>
              <a:spcAft>
                <a:spcPts val="800"/>
              </a:spcAft>
              <a:buNone/>
            </a:pPr>
            <a:r>
              <a:rPr lang="en-US" sz="980" dirty="0">
                <a:solidFill>
                  <a:srgbClr val="1C2E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競合分析／給与相場分析／原稿ABテスト／募集媒体選定</a:t>
            </a:r>
            <a:endParaRPr lang="en-US" sz="98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80" b="1" dirty="0">
                <a:solidFill>
                  <a:srgbClr val="D98A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採用会議（月2回）</a:t>
            </a:r>
            <a:endParaRPr lang="en-US" sz="980" dirty="0"/>
          </a:p>
          <a:p>
            <a:pPr indent="0" marL="0">
              <a:lnSpc>
                <a:spcPct val="102000"/>
              </a:lnSpc>
              <a:spcAft>
                <a:spcPts val="800"/>
              </a:spcAft>
              <a:buNone/>
            </a:pPr>
            <a:r>
              <a:rPr lang="en-US" sz="980" dirty="0">
                <a:solidFill>
                  <a:srgbClr val="1C2E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応募数・面接率・採用率・改善提案を経営者へ報告</a:t>
            </a:r>
            <a:endParaRPr lang="en-US" sz="980" dirty="0"/>
          </a:p>
        </p:txBody>
      </p:sp>
      <p:sp>
        <p:nvSpPr>
          <p:cNvPr id="20" name="Shape 16"/>
          <p:cNvSpPr/>
          <p:nvPr/>
        </p:nvSpPr>
        <p:spPr>
          <a:xfrm>
            <a:off x="8214055" y="1481328"/>
            <a:ext cx="3520440" cy="4261104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BE6EA"/>
            </a:solidFill>
            <a:prstDash val="solid"/>
          </a:ln>
          <a:effectLst>
            <a:outerShdw sx="100000" sy="100000" kx="0" ky="0" algn="bl" rotWithShape="0" blurRad="114300" dist="38100" dir="5400000">
              <a:srgbClr val="9FB4BC">
                <a:alpha val="5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433511" y="1700784"/>
            <a:ext cx="512064" cy="512064"/>
          </a:xfrm>
          <a:prstGeom prst="ellipse">
            <a:avLst/>
          </a:prstGeom>
          <a:solidFill>
            <a:srgbClr val="10394A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6955" y="1824228"/>
            <a:ext cx="265176" cy="26517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073591" y="1700784"/>
            <a:ext cx="2551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1039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PARTNER</a:t>
            </a:r>
            <a:endParaRPr lang="en-US" sz="1700" dirty="0"/>
          </a:p>
        </p:txBody>
      </p:sp>
      <p:sp>
        <p:nvSpPr>
          <p:cNvPr id="24" name="Text 19"/>
          <p:cNvSpPr/>
          <p:nvPr/>
        </p:nvSpPr>
        <p:spPr>
          <a:xfrm>
            <a:off x="9073591" y="1993392"/>
            <a:ext cx="2587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39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¥500,000〜 / 月</a:t>
            </a:r>
            <a:pPr indent="0" marL="0">
              <a:buNone/>
            </a:pPr>
            <a:r>
              <a:rPr lang="en-US" sz="900" dirty="0">
                <a:solidFill>
                  <a:srgbClr val="5E7A8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（常時稼働）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8433511" y="2377440"/>
            <a:ext cx="3081528" cy="0"/>
          </a:xfrm>
          <a:prstGeom prst="line">
            <a:avLst/>
          </a:prstGeom>
          <a:noFill/>
          <a:ln w="12700">
            <a:solidFill>
              <a:srgbClr val="DBE6EA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8433511" y="2468880"/>
            <a:ext cx="3081528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80" b="1" dirty="0">
                <a:solidFill>
                  <a:srgbClr val="1039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採用戦略</a:t>
            </a:r>
            <a:endParaRPr lang="en-US" sz="980" dirty="0"/>
          </a:p>
          <a:p>
            <a:pPr indent="0" marL="0">
              <a:lnSpc>
                <a:spcPct val="102000"/>
              </a:lnSpc>
              <a:spcAft>
                <a:spcPts val="800"/>
              </a:spcAft>
              <a:buNone/>
            </a:pPr>
            <a:r>
              <a:rPr lang="en-US" sz="980" dirty="0">
                <a:solidFill>
                  <a:srgbClr val="1C2E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年間採用計画／採用予算管理／採用KPI作成／媒体選定</a:t>
            </a:r>
            <a:endParaRPr lang="en-US" sz="98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80" b="1" dirty="0">
                <a:solidFill>
                  <a:srgbClr val="1039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採用広報</a:t>
            </a:r>
            <a:endParaRPr lang="en-US" sz="980" dirty="0"/>
          </a:p>
          <a:p>
            <a:pPr indent="0" marL="0">
              <a:lnSpc>
                <a:spcPct val="102000"/>
              </a:lnSpc>
              <a:spcAft>
                <a:spcPts val="800"/>
              </a:spcAft>
              <a:buNone/>
            </a:pPr>
            <a:r>
              <a:rPr lang="en-US" sz="980" dirty="0">
                <a:solidFill>
                  <a:srgbClr val="1C2E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採用ページ改善／SNS採用／会社説明資料作成</a:t>
            </a:r>
            <a:endParaRPr lang="en-US" sz="98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80" b="1" dirty="0">
                <a:solidFill>
                  <a:srgbClr val="1039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採用実務</a:t>
            </a:r>
            <a:endParaRPr lang="en-US" sz="980" dirty="0"/>
          </a:p>
          <a:p>
            <a:pPr indent="0" marL="0">
              <a:lnSpc>
                <a:spcPct val="102000"/>
              </a:lnSpc>
              <a:spcAft>
                <a:spcPts val="800"/>
              </a:spcAft>
              <a:buNone/>
            </a:pPr>
            <a:r>
              <a:rPr lang="en-US" sz="980" dirty="0">
                <a:solidFill>
                  <a:srgbClr val="1C2E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求人作成／スカウト送信／応募者対応／面接調整・同席</a:t>
            </a:r>
            <a:endParaRPr lang="en-US" sz="98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80" b="1" dirty="0">
                <a:solidFill>
                  <a:srgbClr val="1039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エージェント管理</a:t>
            </a:r>
            <a:endParaRPr lang="en-US" sz="980" dirty="0"/>
          </a:p>
          <a:p>
            <a:pPr indent="0" marL="0">
              <a:lnSpc>
                <a:spcPct val="102000"/>
              </a:lnSpc>
              <a:spcAft>
                <a:spcPts val="800"/>
              </a:spcAft>
              <a:buNone/>
            </a:pPr>
            <a:r>
              <a:rPr lang="en-US" sz="980" dirty="0">
                <a:solidFill>
                  <a:srgbClr val="1C2E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紹介会社対応／エージェント開拓／フィー交渉／推薦管理</a:t>
            </a:r>
            <a:endParaRPr lang="en-US" sz="98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80" b="1" dirty="0">
                <a:solidFill>
                  <a:srgbClr val="1039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データ分析</a:t>
            </a:r>
            <a:endParaRPr lang="en-US" sz="980" dirty="0"/>
          </a:p>
          <a:p>
            <a:pPr indent="0" marL="0">
              <a:lnSpc>
                <a:spcPct val="102000"/>
              </a:lnSpc>
              <a:spcAft>
                <a:spcPts val="800"/>
              </a:spcAft>
              <a:buNone/>
            </a:pPr>
            <a:r>
              <a:rPr lang="en-US" sz="980" dirty="0">
                <a:solidFill>
                  <a:srgbClr val="1C2E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応募率／面接率／内定率／辞退率／媒体別CPA／採用単価</a:t>
            </a:r>
            <a:endParaRPr lang="en-US" sz="980" dirty="0"/>
          </a:p>
        </p:txBody>
      </p:sp>
      <p:sp>
        <p:nvSpPr>
          <p:cNvPr id="27" name="Shape 22"/>
          <p:cNvSpPr/>
          <p:nvPr/>
        </p:nvSpPr>
        <p:spPr>
          <a:xfrm>
            <a:off x="457200" y="5943600"/>
            <a:ext cx="11277295" cy="603504"/>
          </a:xfrm>
          <a:prstGeom prst="roundRect">
            <a:avLst>
              <a:gd name="adj" fmla="val 13636"/>
            </a:avLst>
          </a:prstGeom>
          <a:solidFill>
            <a:srgbClr val="10394A"/>
          </a:solidFill>
          <a:ln/>
          <a:effectLst>
            <a:outerShdw sx="100000" sy="100000" kx="0" ky="0" algn="bl" rotWithShape="0" blurRad="114300" dist="38100" dir="5400000">
              <a:srgbClr val="9FB4BC">
                <a:alpha val="55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658368" y="6108192"/>
            <a:ext cx="274320" cy="274320"/>
          </a:xfrm>
          <a:prstGeom prst="ellipse">
            <a:avLst/>
          </a:prstGeom>
          <a:solidFill>
            <a:srgbClr val="D98A2B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6172200"/>
            <a:ext cx="146304" cy="14630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051560" y="5943600"/>
            <a:ext cx="10561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初期導入費 ¥100,000　</a:t>
            </a:r>
            <a:pPr indent="0" marL="0">
              <a:buNone/>
            </a:pPr>
            <a:r>
              <a:rPr lang="en-US" sz="950" dirty="0">
                <a:solidFill>
                  <a:srgbClr val="CFDDE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採用課題ヒアリング／採用フロー構築／求人票・原稿作成／ATS初期設定／LINE・メールテンプレート／KPI設計／媒体アカウント整備／キックオフMTG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2026-08-05T14:22:29Z</dcterms:created>
  <dcterms:modified xsi:type="dcterms:W3CDTF">2026-08-05T14:22:29Z</dcterms:modified>
</cp:coreProperties>
</file>